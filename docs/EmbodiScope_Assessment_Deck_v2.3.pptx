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793291f6a74ce2" /><Relationship Type="http://schemas.openxmlformats.org/officeDocument/2006/relationships/extended-properties" Target="/docProps/app.xml" Id="R85e0a11c45274e7b" /><Relationship Type="http://schemas.openxmlformats.org/officeDocument/2006/relationships/officeDocument" Target="/ppt/presentation.xml" Id="R9ac313b67dd444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1fc75cf5c4ce1"/>
  </p:sldMasterIdLst>
  <p:notesMasterIdLst>
    <p:notesMasterId xmlns:r="http://schemas.openxmlformats.org/officeDocument/2006/relationships" r:id="R6cd05262857d4935"/>
  </p:notesMasterIdLst>
  <p:sldIdLst>
    <p:sldId xmlns:r="http://schemas.openxmlformats.org/officeDocument/2006/relationships" id="256" r:id="R6b736503aee34d36"/>
    <p:sldId xmlns:r="http://schemas.openxmlformats.org/officeDocument/2006/relationships" id="257" r:id="R5118d96ca68a415c"/>
    <p:sldId xmlns:r="http://schemas.openxmlformats.org/officeDocument/2006/relationships" id="258" r:id="Rd89c9cf2769c4c73"/>
    <p:sldId xmlns:r="http://schemas.openxmlformats.org/officeDocument/2006/relationships" id="259" r:id="R92db012df38f4537"/>
    <p:sldId xmlns:r="http://schemas.openxmlformats.org/officeDocument/2006/relationships" id="260" r:id="R903e74f95a7b430a"/>
    <p:sldId xmlns:r="http://schemas.openxmlformats.org/officeDocument/2006/relationships" id="261" r:id="R5b6bc40e0f164940"/>
    <p:sldId xmlns:r="http://schemas.openxmlformats.org/officeDocument/2006/relationships" id="262" r:id="Rdd3ceba27dc44504"/>
    <p:sldId xmlns:r="http://schemas.openxmlformats.org/officeDocument/2006/relationships" id="263" r:id="Rabb592c4e0c04252"/>
    <p:sldId xmlns:r="http://schemas.openxmlformats.org/officeDocument/2006/relationships" id="264" r:id="Rfe5c2c78ac8e4303"/>
    <p:sldId xmlns:r="http://schemas.openxmlformats.org/officeDocument/2006/relationships" id="265" r:id="R5a17f16aa5ea4fae"/>
    <p:sldId xmlns:r="http://schemas.openxmlformats.org/officeDocument/2006/relationships" id="266" r:id="Rc7b8657cf0de4525"/>
    <p:sldId xmlns:r="http://schemas.openxmlformats.org/officeDocument/2006/relationships" id="267" r:id="Rd9d3119763b843d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da2d82e37427e" /><Relationship Type="http://schemas.openxmlformats.org/officeDocument/2006/relationships/slideMaster" Target="/ppt/slideMasters/slideMaster1.xml" Id="R0ff1fc75cf5c4ce1" /><Relationship Type="http://schemas.openxmlformats.org/officeDocument/2006/relationships/notesMaster" Target="/ppt/notesMasters/notesMaster1.xml" Id="R6cd05262857d4935" /><Relationship Type="http://schemas.openxmlformats.org/officeDocument/2006/relationships/presProps" Target="/ppt/presProps.xml" Id="R20ea70e809894147" /><Relationship Type="http://schemas.openxmlformats.org/officeDocument/2006/relationships/tableStyles" Target="/ppt/tableStyles.xml" Id="R0aff3b52cec4494a" /><Relationship Type="http://schemas.openxmlformats.org/officeDocument/2006/relationships/slide" Target="/ppt/slides/slide1.xml" Id="R6b736503aee34d36" /><Relationship Type="http://schemas.openxmlformats.org/officeDocument/2006/relationships/slide" Target="/ppt/slides/slide2.xml" Id="R5118d96ca68a415c" /><Relationship Type="http://schemas.openxmlformats.org/officeDocument/2006/relationships/slide" Target="/ppt/slides/slide3.xml" Id="Rd89c9cf2769c4c73" /><Relationship Type="http://schemas.openxmlformats.org/officeDocument/2006/relationships/slide" Target="/ppt/slides/slide4.xml" Id="R92db012df38f4537" /><Relationship Type="http://schemas.openxmlformats.org/officeDocument/2006/relationships/slide" Target="/ppt/slides/slide5.xml" Id="R903e74f95a7b430a" /><Relationship Type="http://schemas.openxmlformats.org/officeDocument/2006/relationships/slide" Target="/ppt/slides/slide6.xml" Id="R5b6bc40e0f164940" /><Relationship Type="http://schemas.openxmlformats.org/officeDocument/2006/relationships/slide" Target="/ppt/slides/slide7.xml" Id="Rdd3ceba27dc44504" /><Relationship Type="http://schemas.openxmlformats.org/officeDocument/2006/relationships/slide" Target="/ppt/slides/slide8.xml" Id="Rabb592c4e0c04252" /><Relationship Type="http://schemas.openxmlformats.org/officeDocument/2006/relationships/slide" Target="/ppt/slides/slide9.xml" Id="Rfe5c2c78ac8e4303" /><Relationship Type="http://schemas.openxmlformats.org/officeDocument/2006/relationships/slide" Target="/ppt/slides/slide10.xml" Id="R5a17f16aa5ea4fae" /><Relationship Type="http://schemas.openxmlformats.org/officeDocument/2006/relationships/slide" Target="/ppt/slides/slide11.xml" Id="Rc7b8657cf0de4525" /><Relationship Type="http://schemas.openxmlformats.org/officeDocument/2006/relationships/slide" Target="/ppt/slides/slide12.xml" Id="Rd9d3119763b843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0112980de647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71b784ce2b4d3a" /><Relationship Type="http://schemas.openxmlformats.org/officeDocument/2006/relationships/notesMaster" Target="/ppt/notesMasters/notesMaster1.xml" Id="R20e75fba18614c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439f750fd94402" /><Relationship Type="http://schemas.openxmlformats.org/officeDocument/2006/relationships/notesMaster" Target="/ppt/notesMasters/notesMaster1.xml" Id="R8d7a8732aa00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0916b7d744c19" /><Relationship Type="http://schemas.openxmlformats.org/officeDocument/2006/relationships/notesMaster" Target="/ppt/notesMasters/notesMaster1.xml" Id="Ra4454eaa1fbe43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c92cc1482d4654" /><Relationship Type="http://schemas.openxmlformats.org/officeDocument/2006/relationships/notesMaster" Target="/ppt/notesMasters/notesMaster1.xml" Id="R09d4083e1e66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d3b987fefb4a89" /><Relationship Type="http://schemas.openxmlformats.org/officeDocument/2006/relationships/notesMaster" Target="/ppt/notesMasters/notesMaster1.xml" Id="R743e545428f64a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b7f0dda9994d08" /><Relationship Type="http://schemas.openxmlformats.org/officeDocument/2006/relationships/notesMaster" Target="/ppt/notesMasters/notesMaster1.xml" Id="R483ac96722cd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b37f23c2b48d6" /><Relationship Type="http://schemas.openxmlformats.org/officeDocument/2006/relationships/notesMaster" Target="/ppt/notesMasters/notesMaster1.xml" Id="Rb5d2498e723041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9ffab90584795" /><Relationship Type="http://schemas.openxmlformats.org/officeDocument/2006/relationships/notesMaster" Target="/ppt/notesMasters/notesMaster1.xml" Id="R3fca3f154e254f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f8d13244d548b1" /><Relationship Type="http://schemas.openxmlformats.org/officeDocument/2006/relationships/notesMaster" Target="/ppt/notesMasters/notesMaster1.xml" Id="R0aa72c9a10c140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4d1188fcba4be1" /><Relationship Type="http://schemas.openxmlformats.org/officeDocument/2006/relationships/notesMaster" Target="/ppt/notesMasters/notesMaster1.xml" Id="R15108906b7be46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366bfcf6b44fcd" /><Relationship Type="http://schemas.openxmlformats.org/officeDocument/2006/relationships/notesMaster" Target="/ppt/notesMasters/notesMaster1.xml" Id="Rb415ea850ec94c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c8360b75f743e2" /><Relationship Type="http://schemas.openxmlformats.org/officeDocument/2006/relationships/notesMaster" Target="/ppt/notesMasters/notesMaster1.xml" Id="R0730014ab2ff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b5e42b36148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b4bba86a33416f" /><Relationship Type="http://schemas.openxmlformats.org/officeDocument/2006/relationships/slideLayout" Target="/ppt/slideLayouts/slideLayout1.xml" Id="Rcc3250df72c3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3250df72c3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8d319bc1f4e7b" /><Relationship Type="http://schemas.openxmlformats.org/officeDocument/2006/relationships/image" Target="/ppt/media/image.jpeg" Id="R82f2b34a83244a52" /><Relationship Type="http://schemas.openxmlformats.org/officeDocument/2006/relationships/notesSlide" Target="/ppt/notesSlides/notesSlide1.xml" Id="R8c59b8291c5f47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b8013e7b6469c" /><Relationship Type="http://schemas.openxmlformats.org/officeDocument/2006/relationships/notesSlide" Target="/ppt/notesSlides/notesSlide2.xml" Id="R878d634b2b0b41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1bd5321274fa8" /><Relationship Type="http://schemas.openxmlformats.org/officeDocument/2006/relationships/notesSlide" Target="/ppt/notesSlides/notesSlide3.xml" Id="Rf682d54b805946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dd4a2d15f4c32" /><Relationship Type="http://schemas.openxmlformats.org/officeDocument/2006/relationships/notesSlide" Target="/ppt/notesSlides/notesSlide4.xml" Id="Ra546816a04be4f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59746dfd84437" /><Relationship Type="http://schemas.openxmlformats.org/officeDocument/2006/relationships/image" Target="/ppt/media/image2.jpeg" Id="Ra82fad396be54989" /><Relationship Type="http://schemas.openxmlformats.org/officeDocument/2006/relationships/notesSlide" Target="/ppt/notesSlides/notesSlide5.xml" Id="R3aa429d4d6294e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e2fde44d0480a" /><Relationship Type="http://schemas.openxmlformats.org/officeDocument/2006/relationships/image" Target="/ppt/media/image3.jpeg" Id="Rccbdcb3133c44257" /><Relationship Type="http://schemas.openxmlformats.org/officeDocument/2006/relationships/notesSlide" Target="/ppt/notesSlides/notesSlide6.xml" Id="R3538f3f665a9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7de235a6a480f" /><Relationship Type="http://schemas.openxmlformats.org/officeDocument/2006/relationships/image" Target="/ppt/media/image4.jpeg" Id="Rbe90b6d0c5024f61" /><Relationship Type="http://schemas.openxmlformats.org/officeDocument/2006/relationships/notesSlide" Target="/ppt/notesSlides/notesSlide7.xml" Id="R5c31f78905544f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9f3f6c77f4097" /><Relationship Type="http://schemas.openxmlformats.org/officeDocument/2006/relationships/notesSlide" Target="/ppt/notesSlides/notesSlide8.xml" Id="R35732e6ecab945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5f2452134a9a" /><Relationship Type="http://schemas.openxmlformats.org/officeDocument/2006/relationships/notesSlide" Target="/ppt/notesSlides/notesSlide9.xml" Id="Rf677205d015942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3f909a32c480e" /><Relationship Type="http://schemas.openxmlformats.org/officeDocument/2006/relationships/notesSlide" Target="/ppt/notesSlides/notesSlide10.xml" Id="R6d8bde1b3b8e41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ba3ed8e2342be" /><Relationship Type="http://schemas.openxmlformats.org/officeDocument/2006/relationships/notesSlide" Target="/ppt/notesSlides/notesSlide11.xml" Id="R81921ef2355948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f0e911261437a" /><Relationship Type="http://schemas.openxmlformats.org/officeDocument/2006/relationships/notesSlide" Target="/ppt/notesSlides/notesSlide12.xml" Id="R56ccf4236b114f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C1C3C-FFB5-4209-AAD6-250586D1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2b34a83244a52"/>
          <a:srcRect xmlns:a="http://schemas.openxmlformats.org/drawingml/2006/main" l="0" t="4048" r="0" b="40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905875" y="342900"/>
            <a:ext cx="3000375" cy="6172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484D9-BA2B-43DA-8B48-BCA59C3A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47D73"/>
                </a:solidFill>
              </a:defRPr>
            </a:pPr>
            <a:r>
              <a:rPr sz="1200" b="1">
                <a:solidFill>
                  <a:srgbClr val="147D73"/>
                </a:solidFill>
              </a:rPr>
              <a:t>课题 2 · 面向具身智能的工具与模块开发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2A8C1-9166-4889-A8FF-A27D137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144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918"/>
                </a:solidFill>
              </a:defRPr>
            </a:pPr>
            <a:r>
              <a:rPr sz="5700" b="1">
                <a:solidFill>
                  <a:srgbClr val="111918"/>
                </a:solidFill>
              </a:rPr>
              <a:t>EmbodiScope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51502-3842-450C-BF66-CBEDB7E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733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918"/>
                </a:solidFill>
              </a:defRPr>
            </a:pPr>
            <a:r>
              <a:rPr sz="2850" b="1">
                <a:solidFill>
                  <a:srgbClr val="111918"/>
                </a:solidFill>
              </a:rPr>
              <a:t>让具身实验失败变成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11918"/>
                </a:solidFill>
              </a:defRPr>
            </a:pPr>
            <a:r>
              <a:rPr sz="2850" b="1">
                <a:solidFill>
                  <a:srgbClr val="111918"/>
                </a:solidFill>
              </a:rPr>
              <a:t>可复现、可诊断、可恢复验证的证据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810FC-EA0E-4104-A43F-DAB455C4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6966"/>
                </a:solidFill>
              </a:defRPr>
            </a:pPr>
            <a:r>
              <a:rPr sz="1650" b="0">
                <a:solidFill>
                  <a:srgbClr val="5E6966"/>
                </a:solidFill>
              </a:rPr>
              <a:t>真实 PhysX 仿真 · 任务谓词推理 · 配对反事实恢复验证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50042-5834-442D-A2AE-F164EF28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CC06C-9077-4369-8000-7F4303A5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918"/>
                </a:solidFill>
              </a:defRPr>
            </a:pPr>
            <a:r>
              <a:rPr sz="1350" b="1">
                <a:solidFill>
                  <a:srgbClr val="111918"/>
                </a:solidFill>
              </a:rPr>
              <a:t>真实 ManiSkill 仿真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2E351-7843-4B5B-A7D2-F821B04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593D2-1A33-4188-B7CC-311CF28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91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918"/>
                </a:solidFill>
              </a:defRPr>
            </a:pPr>
            <a:r>
              <a:rPr sz="1350" b="1">
                <a:solidFill>
                  <a:srgbClr val="111918"/>
                </a:solidFill>
              </a:rPr>
              <a:t>RecoveryBench 9 组配对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DEEF3-3A69-4E51-B957-6BEB4951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E6966"/>
                </a:solidFill>
              </a:defRPr>
            </a:pPr>
            <a:r>
              <a:rPr sz="1050" b="0">
                <a:solidFill>
                  <a:srgbClr val="5E6966"/>
                </a:solidFill>
              </a:rPr>
              <a:t>v2.3 · 58/58 tests · ManiSkill · LeRobot · ROS2 · Rerun</a:t>
            </a:r>
          </a:p>
        </p:txBody>
      </p:sp>
    </p:spTree>
    <p:extLst>
      <p:ext uri="{BB962C8B-B14F-4D97-AF65-F5344CB8AC3E}">
        <p14:creationId xmlns:p14="http://schemas.microsoft.com/office/powerpoint/2010/main" val="2983354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624B8-39B7-4CDC-BBBE-E701732C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问题背景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B0B0D-B4B6-4F36-9AED-735E85A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具身失败必须同时解释原因、恢复效果与安全性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70E47-649D-4F1C-AF59-82E09ACE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D3103-5854-444E-98B7-8488BF45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1F486-4945-45E9-916B-59308E4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918"/>
                </a:solidFill>
              </a:defRPr>
            </a:pPr>
            <a:r>
              <a:rPr sz="1425" b="1">
                <a:solidFill>
                  <a:srgbClr val="111918"/>
                </a:solidFill>
              </a:rPr>
              <a:t>动作与控制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EC2BA-34E5-4EF4-871B-6AAC892D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33575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68B28-C441-4F2A-9881-183B6D9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76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E9829-9834-423E-94D2-0BFCC75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注入指令 / 执行响应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1BEBC-04F3-4C1E-ACA3-3C444036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918"/>
                </a:solidFill>
              </a:defRPr>
            </a:pPr>
            <a:r>
              <a:rPr sz="1425" b="1">
                <a:solidFill>
                  <a:srgbClr val="111918"/>
                </a:solidFill>
              </a:rPr>
              <a:t>状态与视觉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D34B8-7081-44BE-8980-890D8CA2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19375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3EEE8-B191-436D-B4B2-B577ED57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62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60BD-BE7D-4C35-950F-2B6B0A0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位姿 / RGB / 时间同步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E9E30-E53A-43AD-9821-F679BAE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918"/>
                </a:solidFill>
              </a:defRPr>
            </a:pPr>
            <a:r>
              <a:rPr sz="1425" b="1">
                <a:solidFill>
                  <a:srgbClr val="111918"/>
                </a:solidFill>
              </a:rPr>
              <a:t>接触与任务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7FB15-3BF0-476A-A2D3-BF7129C9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05175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7BF88-F8B6-4959-8645-9D5A4B9C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4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9AFDC-5EDB-4A65-8405-79279B4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力峰 / 谓词 / 任务结果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A7CAA-67F6-42EF-8308-CDBF70CE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67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918"/>
                </a:solidFill>
              </a:defRPr>
            </a:pPr>
            <a:r>
              <a:rPr sz="1425" b="1">
                <a:solidFill>
                  <a:srgbClr val="111918"/>
                </a:solidFill>
              </a:rPr>
              <a:t>恢复干预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4519C-CFDF-4055-879B-B6A1264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90975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721CB3-568A-442B-A174-B90B1E9E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338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27636-30F1-4758-AD9B-AB9F3967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67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触发 / 算子 / 安全代价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6E251-BB26-4002-BA12-FA8432B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918"/>
                </a:solidFill>
              </a:defRPr>
            </a:pPr>
            <a:r>
              <a:rPr sz="1425" b="1">
                <a:solidFill>
                  <a:srgbClr val="111918"/>
                </a:solidFill>
              </a:rPr>
              <a:t>统计结论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18272-B794-4F77-9E6E-06A1F0C6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76775"/>
            <a:ext cx="433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F2998-828F-4351-827D-0D709C1D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96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DA3532-08FB-42F6-A0D5-6ED86CCB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52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跨种子成功率 / 置信区间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86663-9C77-4C75-B5F5-C62D405B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52600"/>
            <a:ext cx="33147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76712-08D2-44BD-8E02-3D831616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57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918"/>
                </a:solidFill>
              </a:defRPr>
            </a:pPr>
            <a:r>
              <a:rPr sz="2025" b="1">
                <a:solidFill>
                  <a:srgbClr val="111918"/>
                </a:solidFill>
              </a:rPr>
              <a:t>传统工具链的断点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AA998-86FD-4F5A-9D0D-C0304033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519985-A485-44AC-91D8-287CB700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43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918"/>
                </a:solidFill>
              </a:defRPr>
            </a:pPr>
            <a:r>
              <a:rPr sz="1500" b="0">
                <a:solidFill>
                  <a:srgbClr val="111918"/>
                </a:solidFill>
              </a:rPr>
              <a:t>日志、视频和仿真分散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B2ABC2-CC63-4380-ADD8-BF6DB07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24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4208F6-F936-4D4A-9C21-E242CD7F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918"/>
                </a:solidFill>
              </a:defRPr>
            </a:pPr>
            <a:r>
              <a:rPr sz="1500" b="0">
                <a:solidFill>
                  <a:srgbClr val="111918"/>
                </a:solidFill>
              </a:rPr>
              <a:t>恢复建议缺少真实执行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E91F74-1207-487B-9B9D-F42DAE0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29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41FA4C-67E9-49F8-9DD6-D6FE72FF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918"/>
                </a:solidFill>
              </a:defRPr>
            </a:pPr>
            <a:r>
              <a:rPr sz="1500" b="0">
                <a:solidFill>
                  <a:srgbClr val="111918"/>
                </a:solidFill>
              </a:rPr>
              <a:t>任务成功常被误当作安全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6BE5A8-98A7-4BFA-AF82-10E28CA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D73"/>
                </a:solidFill>
              </a:defRPr>
            </a:pPr>
            <a:r>
              <a:rPr sz="1800" b="1">
                <a:solidFill>
                  <a:srgbClr val="147D73"/>
                </a:solidFill>
              </a:rPr>
              <a:t>只有保持故障、固定条件并比较 Failure / Recovered，才能验证恢复的因果收益。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638F76-10B0-45FE-A11D-F305111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EmbodiScope 将故障复现、同步证据、任务推理和恢复评测连接成闭环</a:t>
            </a:r>
          </a:p>
        </p:txBody>
      </p:sp>
    </p:spTree>
    <p:extLst>
      <p:ext uri="{BB962C8B-B14F-4D97-AF65-F5344CB8AC3E}">
        <p14:creationId xmlns:p14="http://schemas.microsoft.com/office/powerpoint/2010/main" val="1889329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F2944A-48DC-4DA2-BD81-C355D86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闭环架构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5112A-1533-4E68-93DF-4DA8A1C8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一个系统贯通失败复现、诊断、恢复和统计验证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020BA-7B2C-430F-9022-53F80B7C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AA7E-72BA-4A57-B956-14260787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5CB3B-3D6B-4907-B508-7F05787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432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3885D3-3E1A-45DC-9BBC-B3AB727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67050"/>
            <a:ext cx="1143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B8966-C057-4410-A3E6-7CA7A733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D7B08-789D-4084-B0CD-AAEC530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1143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F9BEC-B8B9-4428-B732-E1CF201A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78AA8-2548-4DCC-9426-D60C4318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67050"/>
            <a:ext cx="1143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633B6-9C2B-4007-8E77-FB08BAF7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1F261-42BB-4473-B3A2-CF8ED3D2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CC09F-742F-49CB-A3D2-084174E8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7D73"/>
                </a:solidFill>
              </a:defRPr>
            </a:pPr>
            <a:r>
              <a:rPr sz="3600" b="1">
                <a:solidFill>
                  <a:srgbClr val="147D73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0D234-3067-4F15-BC4C-C5B3BF8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真实仿真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7D6F0-0D17-44C0-8BC0-DB45C3C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PickCube-v1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Panda 控制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PhysX 接触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B09FD-43BA-46CA-8639-FE3C7FC7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C4D74-9E7E-479D-A593-F354C65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AC368-99AC-47D5-9EEF-606A4338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8679B"/>
                </a:solidFill>
              </a:defRPr>
            </a:pPr>
            <a:r>
              <a:rPr sz="3600" b="1">
                <a:solidFill>
                  <a:srgbClr val="38679B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67873-DE53-4F7E-AED4-C295CE49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86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统一证据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13C43-6B62-46A7-ADD8-282DDAE0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RGB · 动作 · 状态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接触力 · 任务阶段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551F0-8CF3-450A-B4CF-40C748F1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F2203-1413-4962-9811-F46BB66D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F191B-78AA-4919-9EFC-73529AD4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C53E3A"/>
                </a:solidFill>
              </a:defRPr>
            </a:pPr>
            <a:r>
              <a:rPr sz="3600" b="1">
                <a:solidFill>
                  <a:srgbClr val="C53E3A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CABC8-62C1-4F48-8D42-2F9C417C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86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谓词推理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BB87A-1524-4D7D-BF59-F4C56ED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433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连续状态 → 谓词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首因定位 → 局部算子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7281F9-A0F2-4358-8F87-2C9F0C3A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57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A615B-3EB2-4948-9D3C-487919E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931F6-AF97-4502-8F0C-0266C02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95500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87513"/>
                </a:solidFill>
              </a:defRPr>
            </a:pPr>
            <a:r>
              <a:rPr sz="3600" b="1">
                <a:solidFill>
                  <a:srgbClr val="B87513"/>
                </a:solidFill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4D366B-3D0E-418F-886A-4E730F5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配对验证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383E1-F956-4B1E-B10E-D23833B3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4330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Failure / Recovered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E6966"/>
                </a:solidFill>
              </a:defRPr>
            </a:pPr>
            <a:r>
              <a:rPr sz="1500" b="0">
                <a:solidFill>
                  <a:srgbClr val="5E6966"/>
                </a:solidFill>
              </a:rPr>
              <a:t>成功 · 安全 · 代价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50458-0F16-4DD6-94D0-05A6695A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918"/>
                </a:solidFill>
              </a:defRPr>
            </a:pPr>
            <a:r>
              <a:rPr sz="1950" b="1">
                <a:solidFill>
                  <a:srgbClr val="111918"/>
                </a:solidFill>
              </a:rPr>
              <a:t>同一 Episode ID 与时间轴贯穿 HDF5、MP4、回放 JSON、诊断和恢复结果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0EC20-3EE8-4812-8A4B-32344B95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异步作业支持进度、取消、历史恢复与 JSON 证据导出</a:t>
            </a:r>
          </a:p>
        </p:txBody>
      </p:sp>
    </p:spTree>
    <p:extLst>
      <p:ext uri="{BB962C8B-B14F-4D97-AF65-F5344CB8AC3E}">
        <p14:creationId xmlns:p14="http://schemas.microsoft.com/office/powerpoint/2010/main" val="2704580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DCB72B-E899-4879-804D-42DF394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核心方法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4DA20-845E-40CD-AC8B-D63D2A08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原创性不在“展示日志”，而在三层可验证闭环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305D2-C63A-4734-8486-FE0182C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5701B-6248-47AA-A237-53AFA9B0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7BAA4-2320-4F84-B159-3C08E21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C34F4-7FBD-4B29-9DF1-84DD4AC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47D73"/>
                </a:solidFill>
              </a:defRPr>
            </a:pPr>
            <a:r>
              <a:rPr sz="3000" b="1">
                <a:solidFill>
                  <a:srgbClr val="147D7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D7135-18AD-4ABD-99FA-0541E910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81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物理故障证据链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29412-7C7C-491D-93C5-F62DF5E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813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966"/>
                </a:solidFill>
              </a:defRPr>
            </a:pPr>
            <a:r>
              <a:rPr sz="1425" b="0">
                <a:solidFill>
                  <a:srgbClr val="5E6966"/>
                </a:solidFill>
              </a:rPr>
              <a:t>同一注入事件写入视频、状态、力觉与诊断时间轴；正式适配器重新读取自产 HDF5。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C55C8-1DD7-4C74-B204-9C2D146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06E5A-3ABC-47DB-92CB-3FD4F53E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7D73"/>
                </a:solidFill>
              </a:defRPr>
            </a:pPr>
            <a:r>
              <a:rPr sz="2550" b="1">
                <a:solidFill>
                  <a:srgbClr val="147D73"/>
                </a:solidFill>
              </a:rPr>
              <a:t>4 模态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91DD3-BD69-439A-B5C7-C9BBD9CD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863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视频 · 状态 · 力觉 · 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5FC9E-038A-48C4-AEBF-00A730F6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975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16209-729D-415A-906A-75B4ED9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38679B"/>
                </a:solidFill>
              </a:defRPr>
            </a:pPr>
            <a:r>
              <a:rPr sz="3000" b="1">
                <a:solidFill>
                  <a:srgbClr val="38679B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873DA-C232-4A74-A183-645FB761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保守数据治理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88B61-0307-4702-8B8E-F3B25A18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813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966"/>
                </a:solidFill>
              </a:defRPr>
            </a:pPr>
            <a:r>
              <a:rPr sz="1425" b="0">
                <a:solidFill>
                  <a:srgbClr val="5E6966"/>
                </a:solidFill>
              </a:rPr>
              <a:t>只修复可验证的数据缺口；碰撞、滑脱等物理事实只隔离，不篡改原始测量。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6E1C0-CEEA-4C30-BF3E-D8EA9B9A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B23AA-68DE-4390-A7C8-B7B2C947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01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8679B"/>
                </a:solidFill>
              </a:defRPr>
            </a:pPr>
            <a:r>
              <a:rPr sz="2550" b="1">
                <a:solidFill>
                  <a:srgbClr val="38679B"/>
                </a:solidFill>
              </a:rPr>
              <a:t>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25480-35CC-44E0-A906-43962E83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8863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正常轨迹误修复 / 误隔离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52811-4A61-483A-8620-64F40AEF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54921-ACC8-456B-9F47-A287727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C53E3A"/>
                </a:solidFill>
              </a:defRPr>
            </a:pPr>
            <a:r>
              <a:rPr sz="3000" b="1">
                <a:solidFill>
                  <a:srgbClr val="C53E3A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29A080-AA37-4411-AF9F-D29DDF19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781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918"/>
                </a:solidFill>
              </a:defRPr>
            </a:pPr>
            <a:r>
              <a:rPr sz="1875" b="1">
                <a:solidFill>
                  <a:srgbClr val="111918"/>
                </a:solidFill>
              </a:rPr>
              <a:t>反事实恢复验证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BE1FF-F5D9-4EC9-8602-59632A1A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81375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966"/>
                </a:solidFill>
              </a:defRPr>
            </a:pPr>
            <a:r>
              <a:rPr sz="1425" b="0">
                <a:solidFill>
                  <a:srgbClr val="5E6966"/>
                </a:solidFill>
              </a:rPr>
              <a:t>固定环境、种子、故障和相机，只改变首因之后的局部干预，并分别报告任务与安全。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17F26-BAD9-41DA-B993-26238DCE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760CF-1A73-42AA-96BF-9E88A698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10125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53E3A"/>
                </a:solidFill>
              </a:defRPr>
            </a:pPr>
            <a:r>
              <a:rPr sz="2550" b="1">
                <a:solidFill>
                  <a:srgbClr val="C53E3A"/>
                </a:solidFill>
              </a:rPr>
              <a:t>2 variants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87229-7953-48F1-AC6F-A0FD3AA1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863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Failure / Recovered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CCA9A-74FA-4CBB-8388-DA94EF9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每层都输出可下载证据：诊断 JSON、清洗 manifest、任务图与 RecoveryBench 结果</a:t>
            </a:r>
          </a:p>
        </p:txBody>
      </p:sp>
    </p:spTree>
    <p:extLst>
      <p:ext uri="{BB962C8B-B14F-4D97-AF65-F5344CB8AC3E}">
        <p14:creationId xmlns:p14="http://schemas.microsoft.com/office/powerpoint/2010/main" val="1820978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D0256-4F35-4C2B-B308-3508EA0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真实运行证据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B7BA5-FD85-47E2-B3C6-0E620DE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RecoveryLab 同屏保留失败组与恢复组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85A99-151A-4AFB-AF20-7FF7762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AEEBC-C196-45DB-AC34-7020A35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FACC-02D0-4BBB-9C1A-C3EDBBF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8E782-5450-4DCA-A94D-DF41883C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B87513"/>
                </a:solidFill>
              </a:defRPr>
            </a:pPr>
            <a:r>
              <a:rPr sz="5100" b="1">
                <a:solidFill>
                  <a:srgbClr val="B8751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C98CB-455B-4B47-A57E-37D5D9F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Failure / Recovered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E32B7-8D2C-436A-9E6F-AC68FCF8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53E3A"/>
                </a:solidFill>
              </a:defRPr>
            </a:pPr>
            <a:r>
              <a:rPr sz="3150" b="1">
                <a:solidFill>
                  <a:srgbClr val="C53E3A"/>
                </a:solidFill>
              </a:rPr>
              <a:t>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37C41-7829-4F8E-8B35-49FEB8C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3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局部恢复算子完成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34BED-55E3-48ED-BA32-5C4398F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95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918"/>
                </a:solidFill>
              </a:defRPr>
            </a:pPr>
            <a:r>
              <a:rPr sz="2025" b="1">
                <a:solidFill>
                  <a:srgbClr val="111918"/>
                </a:solidFill>
              </a:rPr>
              <a:t>3.60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64CAB-153F-4EB1-8F6D-FB507DD2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34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碰撞恢复延迟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00EA1-7E1B-4526-B8B8-ED16B67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collision · seed 7：Failure=false → Recovered=true；全程 UNSAFE，干预后 SAFE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fad396be54989"/>
          <a:srcRect xmlns:a="http://schemas.openxmlformats.org/drawingml/2006/main" l="5820" t="0" r="58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532979" y="1657350"/>
            <a:ext cx="6259019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90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D0256-4F35-4C2B-B308-3508EA0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同步证据回放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B7BA5-FD85-47E2-B3C6-0E620DE4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故障帧可以在视频、数字孪生、接触力和事件间互证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85A99-151A-4AFB-AF20-7FF7762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AEEBC-C196-45DB-AC34-7020A35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dcb3133c442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473518" y="1657350"/>
            <a:ext cx="6377940" cy="4429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4FACC-02D0-4BBB-9C1A-C3EDBBF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95450"/>
            <a:ext cx="95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8E782-5450-4DCA-A94D-DF41883C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B87513"/>
                </a:solidFill>
              </a:defRPr>
            </a:pPr>
            <a:r>
              <a:rPr sz="5100" b="1">
                <a:solidFill>
                  <a:srgbClr val="B87513"/>
                </a:solidFill>
              </a:rPr>
              <a:t>157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C98CB-455B-4B47-A57E-37D5D9F3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真实 PhysX 接触峰值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E32B7-8D2C-436A-9E6F-AC68FCF8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C53E3A"/>
                </a:solidFill>
              </a:defRPr>
            </a:pPr>
            <a:r>
              <a:rPr sz="3150" b="1">
                <a:solidFill>
                  <a:srgbClr val="C53E3A"/>
                </a:solidFill>
              </a:rPr>
              <a:t>40 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37C41-7829-4F8E-8B35-49FEB8CC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33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视频、状态与事件逐帧同步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34BED-55E3-48ED-BA32-5C4398FA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958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918"/>
                </a:solidFill>
              </a:defRPr>
            </a:pPr>
            <a:r>
              <a:rPr sz="2025" b="1">
                <a:solidFill>
                  <a:srgbClr val="111918"/>
                </a:solidFill>
              </a:rPr>
              <a:t>HDF5 + 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64CAB-153F-4EB1-8F6D-FB507DD2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34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结构化证据与可视回放同时生成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00EA1-7E1B-4526-B8B8-ED16B679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点击 1.90 s 事件，同步定位视频帧、Panda 位姿、136.8 N 接触力和 fault_collision 阶段</a:t>
            </a:r>
          </a:p>
        </p:txBody>
      </p:sp>
    </p:spTree>
    <p:extLst>
      <p:ext uri="{BB962C8B-B14F-4D97-AF65-F5344CB8AC3E}">
        <p14:creationId xmlns:p14="http://schemas.microsoft.com/office/powerpoint/2010/main" val="556190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C1E8A-FBAE-4C43-8708-6584B605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任务与运动推理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A58BD-2820-4197-ADFC-28FA4BC0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连续轨迹被落到可解释谓词，并从首因生成局部恢复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4DCE2-218F-4A1C-8CC5-AD8582FF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A8CD7-ED9A-4862-950D-28CFE856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0b6d0c5024f61"/>
          <a:stretch xmlns:a="http://schemas.openxmlformats.org/drawingml/2006/main"/>
        </p:blipFill>
        <p:spPr>
          <a:xfrm xmlns:a="http://schemas.openxmlformats.org/drawingml/2006/main" flipH="0" flipV="0">
            <a:off x="1283448" y="2057507"/>
            <a:ext cx="5757954" cy="360023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F6009-107B-408A-827C-E75AB3CF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505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FBB7-C3A4-4932-860F-E6176FF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147D73"/>
                </a:solidFill>
              </a:defRPr>
            </a:pPr>
            <a:r>
              <a:rPr sz="3675" b="1">
                <a:solidFill>
                  <a:srgbClr val="147D73"/>
                </a:solidFill>
              </a:rPr>
              <a:t>4 /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D1AF7-1BF6-41A5-A901-AE143C28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809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失败 Episode 可生成局部恢复计划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F25BD-50E6-4F19-8710-A8439ED4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505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85EBF-24FB-4CCA-9922-E66BDA4E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147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918"/>
                </a:solidFill>
              </a:defRPr>
            </a:pPr>
            <a:r>
              <a:rPr sz="2850" b="1">
                <a:solidFill>
                  <a:srgbClr val="111918"/>
                </a:solidFill>
              </a:rPr>
              <a:t>99.2%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9FDD9F-BC89-4273-92A2-F1DA8515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连续信号的谓词落地覆盖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520AB-61C3-4F2B-941C-E8E9FD4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3E3A"/>
                </a:solidFill>
              </a:defRPr>
            </a:pPr>
            <a:r>
              <a:rPr sz="1350" b="1">
                <a:solidFill>
                  <a:srgbClr val="C53E3A"/>
                </a:solidFill>
              </a:rPr>
              <a:t>首因谓词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057DC-8A9A-4157-93B1-8E805A4A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95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966"/>
                </a:solidFill>
              </a:defRPr>
            </a:pPr>
            <a:r>
              <a:rPr sz="1350" b="0">
                <a:solidFill>
                  <a:srgbClr val="5E6966"/>
                </a:solidFill>
              </a:rPr>
              <a:t>collision_free=false → EmergencyStop → Retreat → Reobserve → Replan → Guarded 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5FDF9-E71E-43E2-873C-13C5CB15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EP-003：首个失效安全不变量出现在 transport 7.18 s，并生成 5 个局部恢复算子</a:t>
            </a:r>
          </a:p>
        </p:txBody>
      </p:sp>
    </p:spTree>
    <p:extLst>
      <p:ext uri="{BB962C8B-B14F-4D97-AF65-F5344CB8AC3E}">
        <p14:creationId xmlns:p14="http://schemas.microsoft.com/office/powerpoint/2010/main" val="774791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AFDB11-9C6C-4342-BF14-56B45A28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RecoveryLab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6FB2-AB16-49D8-9E7F-818568B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配对反事实实验只改变故障后的恢复干预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14F45-1E8F-459D-87F0-11B453C3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1C04C-2C4B-4DB8-9440-2EA3CD4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A30D5-67D9-4391-B8C0-BEBFEDB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7B1B6-719E-4D8E-9C61-EA87E93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54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8CD5F-45A6-4C62-9071-E2267F4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954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Failure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739C9-4353-461D-B9F3-23DBEDD6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954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Recovered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E91FE-E06D-4FB2-8C75-AF6DD4D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954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差异 / 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389E-5014-4706-B117-18FFAAB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954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判定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EB75-C4F9-4B34-85C5-2575BB53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3BCB3-0479-4135-9F4E-C7B41F0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TASK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2CA1B-4EA0-4DD0-8EB5-04F5B39B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288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9D1D4-3DA2-4055-AD26-F29800B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288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true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62BD6-5687-472A-9FDE-49C4346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FAILURE → SUCCESS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F3946-1E95-4685-9020-85143BF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28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7D73"/>
                </a:solidFill>
              </a:defRPr>
            </a:pPr>
            <a:r>
              <a:rPr sz="1425" b="1">
                <a:solidFill>
                  <a:srgbClr val="147D73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ED38-2DC3-44DD-AF30-FCC9E94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75856-5D3B-4BD1-93A7-1A23018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8A751-2507-4539-ABAF-147F991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PREDICATE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71B25-85E7-43AA-8A82-33FF491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194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collision_free=false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1DED8-902F-40FC-B2F9-C44010D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19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RESTORED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FF6C3-4EF8-4EFE-9728-D3E8152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94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5 / 5 operators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7A0AD-8BDA-4FD3-8AB7-B724430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6A9C3-F502-489A-889F-FDB4E52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5702C-9FF9-4ED8-9C44-9EC133A8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0E38B-4243-442E-A418-BD5DAA1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EPISODE FORCE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06883-496F-4FE4-A769-AF91E0F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99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290.2 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170F8-428B-43C4-920B-F4643DE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99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290.2 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2B202-F6D8-49D5-A532-A7275210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99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注入碰撞历史保留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E3897-76A2-474B-A626-151F01E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099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53E3A"/>
                </a:solidFill>
              </a:defRPr>
            </a:pPr>
            <a:r>
              <a:rPr sz="1425" b="1">
                <a:solidFill>
                  <a:srgbClr val="C53E3A"/>
                </a:solidFill>
              </a:rPr>
              <a:t>TRACE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3C1AB-0703-4C85-A08B-3BC2D81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ACE95-DA10-43F0-B39C-8AAE979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F4980-E188-4484-AE14-D62922FF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POST FORCE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293A8-CB65-43C5-9435-9D25492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6D2AF-A70B-48EC-A00D-25E39FF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27.9 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7AF6A6-078D-48DF-8D88-D68EACE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005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≤ 36 N guard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8590E-87F1-4509-B317-28F7D58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005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060D09-68E7-4DC8-A610-B30322C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8CCD3-883A-41ED-ACE6-CF49010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32922E-C214-4416-B912-8C3CA92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FB595-5B99-4D68-AAEA-05F47DE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0.4659 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FD8244-16F6-4B2E-9928-C84F3A9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910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0.6477 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BEDBC2-CB7F-4A11-967B-0E3714DC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910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+0.1818 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81AA3C-9BF2-435B-ABDA-96003439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910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6288E-12CF-4220-8451-35BA92BE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D79B4D-E5D6-4F12-8530-84DF89E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AE6E9B-2FFA-49B8-B2CA-F276D69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PROTOCOL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78C0BB-A48C-461F-A31F-B1C5DC1A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同环境 / seed / 故障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1AF39E-2513-4168-8623-1F717CD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816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同环境 / seed / 故障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CAB5DA-217E-47CB-A526-A97828A6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816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pair 19ac89ac1b7c7c86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65D4C5-0ED6-45CE-9FAF-AFB20266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81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53E3A"/>
                </a:solidFill>
              </a:defRPr>
            </a:pPr>
            <a:r>
              <a:rPr sz="1425" b="1">
                <a:solidFill>
                  <a:srgbClr val="C53E3A"/>
                </a:solidFill>
              </a:rPr>
              <a:t>PASS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E9A32-0684-4B75-A057-D28A81E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007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01B938-487B-46D5-8DA7-50863B3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D73"/>
                </a:solidFill>
              </a:defRPr>
            </a:pPr>
            <a:r>
              <a:rPr sz="1800" b="1">
                <a:solidFill>
                  <a:srgbClr val="147D73"/>
                </a:solidFill>
              </a:rPr>
              <a:t>任务成功、安全性和恢复代价分别验收；不会用一个成功标签掩盖碰撞历史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A162B4-4F9E-4263-8304-F7378A8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实测作业：recovery-20260721-205407-7bd9f9 · 原始故障与恢复视频均保留</a:t>
            </a:r>
          </a:p>
        </p:txBody>
      </p:sp>
    </p:spTree>
    <p:extLst>
      <p:ext uri="{BB962C8B-B14F-4D97-AF65-F5344CB8AC3E}">
        <p14:creationId xmlns:p14="http://schemas.microsoft.com/office/powerpoint/2010/main" val="1216256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0C04BA-0910-4A08-97CB-7F5BC3BC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RecoveryBench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D0B83-D180-4C20-B09E-8DC66C26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9 组实测配对：任务恢复 88.9%，但整段安全只有 66.7%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3186E-F8FE-4EE6-86D0-CDA79CD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CF10-05D1-440E-B884-5EF6C60C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FB977-07DB-4E44-8F94-FBB0125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3013D-5A64-4E33-9AEE-23CEC52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物理故障场景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FDB9F-8EE4-4D8C-9D9A-16DC47E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F407A-040C-4533-B22F-6A0CBEF8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有效配对试验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85DBA-9C1B-4707-9D1D-BA26E6B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3A00-2A0A-4597-AD37-DD10F13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随机种子 7 / 9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950F-1852-4813-95A7-31AE0CF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7D73"/>
                </a:solidFill>
              </a:defRPr>
            </a:pPr>
            <a:r>
              <a:rPr sz="3600" b="1">
                <a:solidFill>
                  <a:srgbClr val="147D73"/>
                </a:solidFill>
              </a:rPr>
              <a:t>56.5–98.0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CECC2-A297-4F92-8010-BD0F1CE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任务恢复 Wilson 95% CI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21DAF-5A69-4DBB-BCF0-C313A8CF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1F015-A150-4788-A9AA-B12B65E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918"/>
                </a:solidFill>
              </a:defRPr>
            </a:pPr>
            <a:r>
              <a:rPr sz="1800" b="1">
                <a:solidFill>
                  <a:srgbClr val="111918"/>
                </a:solidFill>
              </a:rPr>
              <a:t>恢复能力与安全性分开报告，避免成功率掩盖风险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73E25-D015-4588-B67F-9903EF7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任务恢复率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0FC77-47BD-4E4D-B957-96A353C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F6C6D-C697-4F1A-A5C5-8B967FC9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702821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AF5D5-5483-4F94-98D2-5B15B17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861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7D73"/>
                </a:solidFill>
              </a:defRPr>
            </a:pPr>
            <a:r>
              <a:rPr sz="1350" b="1">
                <a:solidFill>
                  <a:srgbClr val="147D73"/>
                </a:solidFill>
              </a:rPr>
              <a:t>88.9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C52CD-97BE-4AE3-A2B0-1521ACE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干预后安全率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AC488-BE97-49DF-B391-1347C13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46F9D-E86A-4B1F-A094-F7696F1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EDC51-552D-47BB-AB8F-C883E02E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57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AE5D2-C095-4B94-9D6B-EEEDC2B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整段安全率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CD55B-362B-445C-A717-E7FC785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1802D-76FC-4879-9056-E4E925D0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527313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CEF3C-1F70-4B5E-AA56-E2B8B8F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29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3E3A"/>
                </a:solidFill>
              </a:defRPr>
            </a:pPr>
            <a:r>
              <a:rPr sz="1350" b="1">
                <a:solidFill>
                  <a:srgbClr val="C53E3A"/>
                </a:solidFill>
              </a:rPr>
              <a:t>66.7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D4399-5F96-4B69-AA02-D737D59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在线触发覆盖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8994E-0B15-410E-A7DA-74B27E5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CEA87-6368-448C-8C7D-6F683726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6B4A1-B333-40D3-92B6-147167B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7FB87-3EE3-48BF-944F-7CD64A76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配对完整率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53EF3-0A23-42C3-AE0E-3E67B0E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482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E5477-B865-455C-ACE7-E87D185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482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28B9E-6FC0-4577-966A-9E770FA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72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3C16A-270F-4A7E-89F3-C1CE7D2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严格失败率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A42EC5-F635-4650-814A-729EBB0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0AC8BB-0A1B-4CF9-B7B5-1A1A556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87753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184A8-1DAA-4A18-815D-9BAD69B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543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3E3A"/>
                </a:solidFill>
              </a:defRPr>
            </a:pPr>
            <a:r>
              <a:rPr sz="1350" b="1">
                <a:solidFill>
                  <a:srgbClr val="C53E3A"/>
                </a:solidFill>
              </a:rPr>
              <a:t>11.1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8D6358-A9CA-437B-A3C6-DC7C926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918"/>
                </a:solidFill>
              </a:defRPr>
            </a:pPr>
            <a:r>
              <a:rPr sz="1650" b="1">
                <a:solidFill>
                  <a:srgbClr val="111918"/>
                </a:solidFill>
              </a:rPr>
              <a:t>8 / 9 严格恢复；唯一失败为 collision / seed 10，恢复组没有产生任务成功的因果增益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2136C-C857-400C-8ACB-3C2C033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recovery-bench-20260723-002311-2c10fb · p95 恢复延迟 3.93 s · 平均路径代价 +0.168 m</a:t>
            </a:r>
          </a:p>
        </p:txBody>
      </p:sp>
    </p:spTree>
    <p:extLst>
      <p:ext uri="{BB962C8B-B14F-4D97-AF65-F5344CB8AC3E}">
        <p14:creationId xmlns:p14="http://schemas.microsoft.com/office/powerpoint/2010/main" val="17221184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AFDB11-9C6C-4342-BF14-56B45A28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原创边界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6FB2-AB16-49D8-9E7F-818568B9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开源组件提供基础设施，项目负责证据闭环与评测协议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14F45-1E8F-459D-87F0-11B453C3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1C04C-2C4B-4DB8-9440-2EA3CD48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A30D5-67D9-4391-B8C0-BEBFEDB9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7B1B6-719E-4D8E-9C61-EA87E93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95475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8CD5F-45A6-4C62-9071-E2267F46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95475"/>
            <a:ext cx="2076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739C9-4353-461D-B9F3-23DBEDD6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95475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EmbodiScope original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E91FE-E06D-4FB2-8C75-AF6DD4DA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95475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可审计证据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4389E-5014-4706-B117-18FFAABB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9547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4EB75-C4F9-4B34-85C5-2575BB53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23BCB3-0479-4135-9F4E-C7B41F0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288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PHYSICS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2CA1B-4EA0-4DD0-8EB5-04F5B39B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288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ManiSkill / SAPIEN / PhysX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9D1D4-3DA2-4055-AD26-F29800B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288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故障注入、全量采集、配对控制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62BD6-5687-472A-9FDE-49C43467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HDF5 / MP4 / replay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7F3946-1E95-4685-9020-85143BF4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288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47D73"/>
                </a:solidFill>
              </a:defRPr>
            </a:pPr>
            <a:r>
              <a:rPr sz="1425" b="1">
                <a:solidFill>
                  <a:srgbClr val="147D73"/>
                </a:solidFill>
              </a:rPr>
              <a:t>非仿真器原创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BED38-2DC3-44DD-AF30-FCC9E945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479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75856-5D3B-4BD1-93A7-1A23018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98A751-2507-4539-ABAF-147F991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PARSING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271B25-85E7-43AA-8A82-33FF491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194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PyArrow / h5py / rosbags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1DED8-902F-40FC-B2F9-C44010D7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194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统一 Schema、语义映射、安全解包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EFF6C3-4EF8-4EFE-9728-D3E8152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194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4 类数据来源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7A0AD-8BDA-4FD3-8AB7-B7244308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未复制核心实现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6A9C3-F502-489A-889F-FDB4E521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385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5702C-9FF9-4ED8-9C44-9EC133A8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40E38B-4243-442E-A418-BD5DAA1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VISUAL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06883-496F-4FE4-A769-AF91E0F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99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Three.js / Rerun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170F8-428B-43C4-920B-F4643DE8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099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同步状态机、事件跳转、证据导出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2B202-F6D8-49D5-A532-A7275210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99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Web UI / .rrd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EE3897-76A2-474B-A626-151F01E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099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53E3A"/>
                </a:solidFill>
              </a:defRPr>
            </a:pPr>
            <a:r>
              <a:rPr sz="1425" b="1">
                <a:solidFill>
                  <a:srgbClr val="C53E3A"/>
                </a:solidFill>
              </a:rPr>
              <a:t>非渲染引擎原创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3C1AB-0703-4C85-A08B-3BC2D81F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290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3ACE95-DA10-43F0-B39C-8AAE9791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F4980-E188-4484-AE14-D62922FF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REASONING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1293A8-CB65-43C5-9435-9D25492F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005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BT.CPP / MoveIt MTC 方法参考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66D2AF-A70B-48EC-A00D-25E39FFD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2005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落地谓词、首因追踪、局部恢复计划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7AF6A6-078D-48DF-8D88-D68EACE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005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task-reasoning.json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8590E-87F1-4509-B317-28F7D583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005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未复制其规划器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060D09-68E7-4DC8-A610-B30322CD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8CCD3-883A-41ED-ACE6-CF490101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32922E-C214-4416-B912-8C3CA92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9107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RECOVERY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1FB595-5B99-4D68-AAEA-05F47DE8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ManiSkill 确定性环境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FD8244-16F6-4B2E-9928-C84F3A9B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910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RecoveryLab / RecoveryBench 协议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BEDBC2-CB7F-4A11-967B-0E3714DC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9107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pair fingerprint / result.json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81AA3C-9BF2-435B-ABDA-96003439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9107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7513"/>
                </a:solidFill>
              </a:defRPr>
            </a:pPr>
            <a:r>
              <a:rPr sz="1425" b="1">
                <a:solidFill>
                  <a:srgbClr val="B87513"/>
                </a:solidFill>
              </a:rPr>
              <a:t>单任务小样本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6288E-12CF-4220-8451-35BA92BE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01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D79B4D-E5D6-4F12-8530-84DF89E3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AE6E9B-2FFA-49B8-B2CA-F276D69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918"/>
                </a:solidFill>
              </a:defRPr>
            </a:pPr>
            <a:r>
              <a:rPr sz="1275" b="1">
                <a:solidFill>
                  <a:srgbClr val="111918"/>
                </a:solidFill>
              </a:rPr>
              <a:t>LICENSE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78C0BB-A48C-461F-A31F-B1C5DC1A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原项目许可证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1AF39E-2513-4168-8623-1F717CD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38162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MIT + THIRD_PARTY_NOTICES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CAB5DA-217E-47CB-A526-A97828A6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81625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918"/>
                </a:solidFill>
              </a:defRPr>
            </a:pPr>
            <a:r>
              <a:rPr sz="1275" b="0">
                <a:solidFill>
                  <a:srgbClr val="111918"/>
                </a:solidFill>
              </a:rPr>
              <a:t>版本与来源可追溯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65D4C5-0ED6-45CE-9FAF-AFB20266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381625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53E3A"/>
                </a:solidFill>
              </a:defRPr>
            </a:pPr>
            <a:r>
              <a:rPr sz="1425" b="1">
                <a:solidFill>
                  <a:srgbClr val="C53E3A"/>
                </a:solidFill>
              </a:rPr>
              <a:t>PASS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9E9A32-0684-4B75-A057-D28A81E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007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01B938-487B-46D5-8DA7-50863B3F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7D73"/>
                </a:solidFill>
              </a:defRPr>
            </a:pPr>
            <a:r>
              <a:rPr sz="1800" b="1">
                <a:solidFill>
                  <a:srgbClr val="147D73"/>
                </a:solidFill>
              </a:rPr>
              <a:t>原创主张只覆盖本项目实现的 Schema、算法、协议、状态机与工程系统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A162B4-4F9E-4263-8304-F7378A8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完整归属与许可证：THIRD_PARTY_NOTICES.md</a:t>
            </a:r>
          </a:p>
        </p:txBody>
      </p:sp>
    </p:spTree>
    <p:extLst>
      <p:ext uri="{BB962C8B-B14F-4D97-AF65-F5344CB8AC3E}">
        <p14:creationId xmlns:p14="http://schemas.microsoft.com/office/powerpoint/2010/main" val="12162566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0C04BA-0910-4A08-97CB-7F5BC3BC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47D73"/>
                </a:solidFill>
              </a:defRPr>
            </a:pPr>
            <a:r>
              <a:rPr sz="1050" b="1">
                <a:solidFill>
                  <a:srgbClr val="147D73"/>
                </a:solidFill>
              </a:rPr>
              <a:t>工程与复现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D0B83-D180-4C20-B09E-8DC66C26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11918"/>
                </a:solidFill>
              </a:defRPr>
            </a:pPr>
            <a:r>
              <a:rPr sz="3450" b="1">
                <a:solidFill>
                  <a:srgbClr val="111918"/>
                </a:solidFill>
              </a:rPr>
              <a:t>代码、数据、评测、演示和限制都进入可验收交付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3186E-F8FE-4EE6-86D0-CDA79CD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BCF10-05D1-440E-B884-5EF6C60C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E6966"/>
                </a:solidFill>
              </a:defRPr>
            </a:pPr>
            <a:r>
              <a:rPr sz="975" b="0">
                <a:solidFill>
                  <a:srgbClr val="5E6966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FB977-07DB-4E44-8F94-FBB01259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3013D-5A64-4E33-9AEE-23CEC52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可切换数据来源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FDB9F-8EE4-4D8C-9D9A-16DC47E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214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F407A-040C-4533-B22F-6A0CBEF8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开放 Episodes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85DBA-9C1B-4707-9D1D-BA26E6B4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918"/>
                </a:solidFill>
              </a:defRPr>
            </a:pPr>
            <a:r>
              <a:rPr sz="3600" b="1">
                <a:solidFill>
                  <a:srgbClr val="111918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03A00-2A0A-4597-AD37-DD10F13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独立 benchmark 家族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7950F-1852-4813-95A7-31AE0CF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621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47D73"/>
                </a:solidFill>
              </a:defRPr>
            </a:pPr>
            <a:r>
              <a:rPr sz="3600" b="1">
                <a:solidFill>
                  <a:srgbClr val="147D73"/>
                </a:solidFill>
              </a:rPr>
              <a:t>58 / 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CECC2-A297-4F92-8010-BD0F1CE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E6966"/>
                </a:solidFill>
              </a:defRPr>
            </a:pPr>
            <a:r>
              <a:rPr sz="1275" b="0">
                <a:solidFill>
                  <a:srgbClr val="5E6966"/>
                </a:solidFill>
              </a:rPr>
              <a:t>自动化测试通过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21DAF-5A69-4DBB-BCF0-C313A8CF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1F015-A150-4788-A9AA-B12B65E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918"/>
                </a:solidFill>
              </a:defRPr>
            </a:pPr>
            <a:r>
              <a:rPr sz="1800" b="1">
                <a:solidFill>
                  <a:srgbClr val="111918"/>
                </a:solidFill>
              </a:rPr>
              <a:t>一键启动、健康检查、离线结果与备用视频共同降低现场风险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73E25-D015-4588-B67F-9903EF7C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FaultBench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0FC77-47BD-4E4D-B957-96A353CA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F6C6D-C697-4F1A-A5C5-8B967FC9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777925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AF5D5-5483-4F94-98D2-5B15B17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861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7D73"/>
                </a:solidFill>
              </a:defRPr>
            </a:pPr>
            <a:r>
              <a:rPr sz="1350" b="1">
                <a:solidFill>
                  <a:srgbClr val="147D73"/>
                </a:solidFill>
              </a:rPr>
              <a:t>98.4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C52CD-97BE-4AE3-A2B0-1521ACE1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862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Repair 成功率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AC488-BE97-49DF-B391-1347C130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46F9D-E86A-4B1F-A094-F7696F1E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EDC51-552D-47BB-AB8F-C883E02E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576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EAE5D2-C095-4B94-9D6B-EEEDC2B3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Recovery 严格率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3CD55B-362B-445C-A717-E7FC785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1802D-76FC-4879-9056-E4E925D0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05325"/>
            <a:ext cx="702821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CEF3C-1F70-4B5E-AA56-E2B8B8F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291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3E3A"/>
                </a:solidFill>
              </a:defRPr>
            </a:pPr>
            <a:r>
              <a:rPr sz="1350" b="1">
                <a:solidFill>
                  <a:srgbClr val="C53E3A"/>
                </a:solidFill>
              </a:rPr>
              <a:t>88.9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D4399-5F96-4B69-AA02-D737D59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干预后安全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8994E-0B15-410E-A7DA-74B27E53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ECEA87-6368-448C-8C7D-6F683726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6B4A1-B333-40D3-92B6-147167B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006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7FB87-3EE3-48BF-944F-7CD64A76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配对完整率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953EF3-0A23-42C3-AE0E-3E67B0ED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482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BE5477-B865-455C-ACE7-E87D185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48275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5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628B9E-6FC0-4577-966A-9E770FA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72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7513"/>
                </a:solidFill>
              </a:defRPr>
            </a:pPr>
            <a:r>
              <a:rPr sz="1350" b="1">
                <a:solidFill>
                  <a:srgbClr val="B87513"/>
                </a:solidFill>
              </a:rPr>
              <a:t>100.0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3C16A-270F-4A7E-89F3-C1CE7D2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6966"/>
                </a:solidFill>
              </a:defRPr>
            </a:pPr>
            <a:r>
              <a:rPr sz="1200" b="0">
                <a:solidFill>
                  <a:srgbClr val="5E6966"/>
                </a:solidFill>
              </a:rPr>
              <a:t>自动化测试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A42EC5-F635-4650-814A-729EBB05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0AC8BB-0A1B-4CF9-B7B5-1A1A5562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9750"/>
            <a:ext cx="790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0184A8-1DAA-4A18-815D-9BAD69B6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5435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3E3A"/>
                </a:solidFill>
              </a:defRPr>
            </a:pPr>
            <a:r>
              <a:rPr sz="1350" b="1">
                <a:solidFill>
                  <a:srgbClr val="C53E3A"/>
                </a:solidFill>
              </a:rPr>
              <a:t>58/58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8D6358-A9CA-437B-A3C6-DC7C926F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918"/>
                </a:solidFill>
              </a:defRPr>
            </a:pPr>
            <a:r>
              <a:rPr sz="1650" b="1">
                <a:solidFill>
                  <a:srgbClr val="111918"/>
                </a:solidFill>
              </a:rPr>
              <a:t>FaultBench 验证诊断，RepairBench 验证数据治理，RecoveryBench 验证恢复干预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42136C-C857-400C-8ACB-3C2C033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E6966"/>
                </a:solidFill>
              </a:defRPr>
            </a:pPr>
            <a:r>
              <a:rPr sz="900" b="0">
                <a:solidFill>
                  <a:srgbClr val="5E6966"/>
                </a:solidFill>
              </a:rPr>
              <a:t>交付：Web 平台 · 代码 · README · v2.3 PPT · 15 分钟讲稿 · 3 分钟演示路径 · 备用视频 · JSON 证据</a:t>
            </a:r>
          </a:p>
        </p:txBody>
      </p:sp>
    </p:spTree>
    <p:extLst>
      <p:ext uri="{BB962C8B-B14F-4D97-AF65-F5344CB8AC3E}">
        <p14:creationId xmlns:p14="http://schemas.microsoft.com/office/powerpoint/2010/main" val="1722118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67A800-3E0C-41A0-93EA-3F43973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3C9BD"/>
                </a:solidFill>
              </a:defRPr>
            </a:pPr>
            <a:r>
              <a:rPr sz="1800" b="1">
                <a:solidFill>
                  <a:srgbClr val="73C9BD"/>
                </a:solidFill>
              </a:rPr>
              <a:t>EmbodiScope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B446D-612F-4BF4-8B19-514BD874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把具身失败分析推进到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可验证的恢复工程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8E5F9-A7F3-4567-8AD1-CC35BAAA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4A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574D3-89D8-4FD0-822B-1DF649C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C7B74-16D2-4D5F-AA7B-DCFCDEB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已经证明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D39AE-8F47-47D8-AB15-E01F4C97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8B5"/>
                </a:solidFill>
              </a:defRPr>
            </a:pPr>
            <a:r>
              <a:rPr sz="1350" b="0">
                <a:solidFill>
                  <a:srgbClr val="AEB8B5"/>
                </a:solidFill>
              </a:rPr>
              <a:t>失败可复现、可诊断、可配对验证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C718-4AB5-4570-9447-A8120AEA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0F27B-4DCC-4593-B43D-4ABC4AAD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当前边界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C7034-56C9-451D-A299-2F3776C8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8B5"/>
                </a:solidFill>
              </a:defRPr>
            </a:pPr>
            <a:r>
              <a:rPr sz="1350" b="0">
                <a:solidFill>
                  <a:srgbClr val="AEB8B5"/>
                </a:solidFill>
              </a:rPr>
              <a:t>PickCube-v1 · 9 组配对 · 单控制器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A3D9F-189C-423C-B52F-F071CBE5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67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523FB-ABDE-405E-8B85-FBD29D4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下一阶段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FC1DB-4614-4B33-9F3B-154810B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101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8B5"/>
                </a:solidFill>
              </a:defRPr>
            </a:pPr>
            <a:r>
              <a:rPr sz="1350" b="0">
                <a:solidFill>
                  <a:srgbClr val="AEB8B5"/>
                </a:solidFill>
              </a:rPr>
              <a:t>多任务 · 多机器人 · 真机人工标注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C0CD6-8B47-4C38-896C-DDA9519C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3C9BD"/>
                </a:solidFill>
              </a:defRPr>
            </a:pPr>
            <a:r>
              <a:rPr sz="1350" b="1">
                <a:solidFill>
                  <a:srgbClr val="73C9BD"/>
                </a:solidFill>
              </a:rPr>
              <a:t>v2.3 · 诚实报告安全边界 · 以可复现实验证明原创主张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B85B78-9559-4851-BA1D-A7AEA10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1505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AEB8B5"/>
                </a:solidFill>
              </a:defRPr>
            </a:pPr>
            <a:r>
              <a:rPr sz="1200" b="0">
                <a:solidFill>
                  <a:srgbClr val="AEB8B5"/>
                </a:solidFill>
              </a:rPr>
              <a:t>课题 2 · 面向具身智能的工具与模块开发</a:t>
            </a:r>
          </a:p>
        </p:txBody>
      </p:sp>
    </p:spTree>
    <p:extLst>
      <p:ext uri="{BB962C8B-B14F-4D97-AF65-F5344CB8AC3E}">
        <p14:creationId xmlns:p14="http://schemas.microsoft.com/office/powerpoint/2010/main" val="788389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2026-07-23T09:34:42.5630000Z</dcterms:created>
  <dcterms:modified xsi:type="dcterms:W3CDTF">2026-07-23T09:34:42.5630000Z</dcterms:modified>
</coreProperties>
</file>